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UniFi Access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Administration Training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 •  Access Policies  •  NFC Credentials  •  Door Control Tools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Valley City State University  |  Capstone Project  |  March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4526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Herzog Jr.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234440"/>
            <a:ext cx="411480" cy="411480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466" y="1308506"/>
            <a:ext cx="263347" cy="2633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234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Local Users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2E509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466" y="19028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828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User Groups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" y="2497226"/>
            <a:ext cx="263347" cy="2633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54480" y="2423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Policies &amp; Schedules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466" y="3091586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54480" y="3017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NFC Cards &amp; Fobs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2E509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466" y="3685946"/>
            <a:ext cx="263347" cy="26334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554480" y="3611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Lock Toggle App</a:t>
            </a: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466" y="4280306"/>
            <a:ext cx="263347" cy="26334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554480" y="4206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 Overview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1371600"/>
            <a:ext cx="1097280" cy="1097280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0870" y="1569110"/>
            <a:ext cx="702259" cy="70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Creating Local Users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individuals to UniFi Access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Creating a Local User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Access application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4630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Users &gt; Users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65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9202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Add User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3774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First Name, Last Name, Email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8346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Employee ID (optional)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337560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291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 to save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03520" y="914400"/>
            <a:ext cx="3474720" cy="2560320"/>
          </a:xfrm>
          <a:prstGeom prst="rect">
            <a:avLst/>
          </a:prstGeom>
          <a:solidFill>
            <a:srgbClr val="F0F2F5"/>
          </a:solidFill>
          <a:ln w="19050">
            <a:solidFill>
              <a:srgbClr val="AAAAAA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30352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&gt; Add User form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840480"/>
            <a:ext cx="45720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38679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import via CSV: Settings &gt; Import Users.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03520" y="3657600"/>
            <a:ext cx="3474720" cy="1188720"/>
          </a:xfrm>
          <a:prstGeom prst="rect">
            <a:avLst/>
          </a:prstGeom>
          <a:solidFill>
            <a:srgbClr val="F0F2F5"/>
          </a:solidFill>
          <a:ln w="19050">
            <a:solidFill>
              <a:srgbClr val="AAAAAA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5303520" y="3886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SCREENSHOT]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4251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list with new user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1371600"/>
            <a:ext cx="1097280" cy="1097280"/>
          </a:xfrm>
          <a:prstGeom prst="ellipse">
            <a:avLst/>
          </a:prstGeom>
          <a:solidFill>
            <a:srgbClr val="2E509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0870" y="1569110"/>
            <a:ext cx="702259" cy="70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Setting Up User Groups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users for efficient policy management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Creating a User Group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92608" cy="292608"/>
          </a:xfrm>
          <a:prstGeom prst="ellipse">
            <a:avLst/>
          </a:prstGeom>
          <a:solidFill>
            <a:srgbClr val="2E50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Users &gt; Groups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92608" cy="292608"/>
          </a:xfrm>
          <a:prstGeom prst="ellipse">
            <a:avLst/>
          </a:prstGeom>
          <a:solidFill>
            <a:srgbClr val="2E5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 Group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292608" cy="292608"/>
          </a:xfrm>
          <a:prstGeom prst="ellipse">
            <a:avLst/>
          </a:prstGeom>
          <a:solidFill>
            <a:srgbClr val="2E509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011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group (e.g., "Employees")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292608" cy="292608"/>
          </a:xfrm>
          <a:prstGeom prst="ellipse">
            <a:avLst/>
          </a:prstGeom>
          <a:solidFill>
            <a:srgbClr val="2E5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5146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users from the user list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292608" cy="292608"/>
          </a:xfrm>
          <a:prstGeom prst="ellipse">
            <a:avLst/>
          </a:prstGeom>
          <a:solidFill>
            <a:srgbClr val="2E5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63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0175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Save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03520" y="914400"/>
            <a:ext cx="3474720" cy="2194560"/>
          </a:xfrm>
          <a:prstGeom prst="rect">
            <a:avLst/>
          </a:prstGeom>
          <a:solidFill>
            <a:srgbClr val="F0F2F5"/>
          </a:solidFill>
          <a:ln w="19050">
            <a:solidFill>
              <a:srgbClr val="AAAAAA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30352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&gt; Groups &gt; Create Group dialog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45720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2E5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37764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Groups?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policies to groups, not individuals. Group membership changes auto-apply.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0" y="3383280"/>
            <a:ext cx="3474720" cy="1188720"/>
          </a:xfrm>
          <a:prstGeom prst="rect">
            <a:avLst/>
          </a:prstGeom>
          <a:solidFill>
            <a:srgbClr val="F0F2F5"/>
          </a:solidFill>
          <a:ln w="19050">
            <a:solidFill>
              <a:srgbClr val="AAAAAA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530352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SCREENSHOT]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3977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list with members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1371600"/>
            <a:ext cx="1097280" cy="1097280"/>
          </a:xfrm>
          <a:prstGeom prst="ellipse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0870" y="1569110"/>
            <a:ext cx="702259" cy="70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 Policies &amp; Schedules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gets access, where, and when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Policies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34747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188720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or user groups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4747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Doors, gates, elevators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834640"/>
            <a:ext cx="34747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2834640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(days, times, holidays)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2834640"/>
            <a:ext cx="34747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834640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all three into a rule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Creating an Access Policy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92608" cy="292608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&gt; Policies &amp; Schedules &gt; Policies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92608" cy="292608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3716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 New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292608" cy="292608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8288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Locations (doors to include)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331720"/>
            <a:ext cx="292608" cy="292608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31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2860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Users — "All" or specific groups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788920"/>
            <a:ext cx="292608" cy="292608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7432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Schedule — Predefined or Custom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246120"/>
            <a:ext cx="292608" cy="292608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246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200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Custom: select days + time ranges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292608" cy="292608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6576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 to activate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03520" y="914400"/>
            <a:ext cx="3474720" cy="1828800"/>
          </a:xfrm>
          <a:prstGeom prst="rect">
            <a:avLst/>
          </a:prstGeom>
          <a:solidFill>
            <a:srgbClr val="F0F2F5"/>
          </a:solidFill>
          <a:ln w="19050">
            <a:solidFill>
              <a:srgbClr val="AAAAAA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30352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SCREENSHOT]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0352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Policy &gt; Location selection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03520" y="2926080"/>
            <a:ext cx="3474720" cy="1828800"/>
          </a:xfrm>
          <a:prstGeom prst="rect">
            <a:avLst/>
          </a:prstGeom>
          <a:solidFill>
            <a:srgbClr val="F0F2F5"/>
          </a:solidFill>
          <a:ln w="19050">
            <a:solidFill>
              <a:srgbClr val="AAAAAA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530352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SCREENSHOT]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0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Policy &gt; Schedule configuration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 Examples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4572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Hours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Mon–Fri, 9 AM – 5 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employees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24/7 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Allowed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staff, security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Sat, 6 AM – 10 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crew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Hours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Mon–Fri, 6 PM – 10 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Evening shift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2743200"/>
            <a:ext cx="45720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31520" y="27706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Policy: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as default so new users inherit it. Policies &gt; hover &gt; Set as Default.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303520" y="1005840"/>
            <a:ext cx="3474720" cy="2286000"/>
          </a:xfrm>
          <a:prstGeom prst="rect">
            <a:avLst/>
          </a:prstGeom>
          <a:solidFill>
            <a:srgbClr val="F0F2F5"/>
          </a:solidFill>
          <a:ln w="19050">
            <a:solidFill>
              <a:srgbClr val="AAAAAA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530352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30352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&gt; Settings &gt; Schedules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screen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1371600"/>
            <a:ext cx="1097280" cy="1097280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0870" y="1569110"/>
            <a:ext cx="702259" cy="70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Assigning NFC Cards &amp; Fobs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Registering and assigning physical credentials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Registering NFC Cards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38404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 A: Via Reader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Settings &gt; Card Inventory &gt; Add New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Select reader, click Continue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Hold card to reader for 5 seconds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3840480" cy="54864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 B: Via Mobile App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Access mobile app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Card Inventory &gt; Scan Card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Hold card to phone NFC sensor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3840480" cy="1371600"/>
          </a:xfrm>
          <a:prstGeom prst="rect">
            <a:avLst/>
          </a:prstGeom>
          <a:solidFill>
            <a:srgbClr val="F0F2F5"/>
          </a:solidFill>
          <a:ln w="19050">
            <a:solidFill>
              <a:srgbClr val="AAAAAA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48640" y="3063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Inventory &gt; Add New &gt; Reader selection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2743200"/>
            <a:ext cx="3840480" cy="1371600"/>
          </a:xfrm>
          <a:prstGeom prst="rect">
            <a:avLst/>
          </a:prstGeom>
          <a:solidFill>
            <a:srgbClr val="F0F2F5"/>
          </a:solidFill>
          <a:ln w="19050">
            <a:solidFill>
              <a:srgbClr val="AAAAAA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754880" y="3063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3429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&gt; Scan Card to Register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804672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3708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13.56 MHz cards only. Keep cards away from wireless chargers.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Assigning a Card to a User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Users &gt; select user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5544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Add NFC Card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1031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from inventory or scan new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6517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can now tap to unlock doors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03520" y="914400"/>
            <a:ext cx="3474720" cy="1828800"/>
          </a:xfrm>
          <a:prstGeom prst="rect">
            <a:avLst/>
          </a:prstGeom>
          <a:solidFill>
            <a:srgbClr val="F0F2F5"/>
          </a:solidFill>
          <a:ln w="19050">
            <a:solidFill>
              <a:srgbClr val="AAAAAA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530352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&gt; Credentials &gt; Add NFC Card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03520" y="2926080"/>
            <a:ext cx="3474720" cy="1645920"/>
          </a:xfrm>
          <a:prstGeom prst="rect">
            <a:avLst/>
          </a:prstGeom>
          <a:solidFill>
            <a:srgbClr val="F0F2F5"/>
          </a:solidFill>
          <a:ln w="19050">
            <a:solidFill>
              <a:srgbClr val="AAAAAA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303520" y="3383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3749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card selection from inventory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1371600"/>
            <a:ext cx="1097280" cy="1097280"/>
          </a:xfrm>
          <a:prstGeom prst="ellipse">
            <a:avLst/>
          </a:prstGeom>
          <a:solidFill>
            <a:srgbClr val="2E509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0870" y="1569110"/>
            <a:ext cx="702259" cy="70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Door Lock Toggle App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unlock control for managed doors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Door Lock Toggle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Standalone: http://&lt;ip&gt;:5001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Portal: http://&lt;ip&gt;:8080 &gt; Doors tab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VLAN / VPN required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377440"/>
            <a:ext cx="54864" cy="10972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toggle = locked, click to unlock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toggle = unlocked, click to lock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 re-locks all doors at 7 PM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914400"/>
            <a:ext cx="3749040" cy="2560320"/>
          </a:xfrm>
          <a:prstGeom prst="rect">
            <a:avLst/>
          </a:prstGeom>
          <a:solidFill>
            <a:srgbClr val="F0F2F5"/>
          </a:solidFill>
          <a:ln w="19050">
            <a:solidFill>
              <a:srgbClr val="AAAAAA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02920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194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Lock Toggle dashboard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locked and unlocked doors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822960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7764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re-lock doors when temporary access is no longer needed.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1371600"/>
            <a:ext cx="1097280" cy="1097280"/>
          </a:xfrm>
          <a:prstGeom prst="ellipse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0870" y="1569110"/>
            <a:ext cx="702259" cy="70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Portal Overview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for cameras, doors, and hardware health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Portal — http://&lt;ip&gt;:8080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26517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51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Cameras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privacy mode.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recording, blacks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live feed.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914400"/>
            <a:ext cx="2651760" cy="54864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051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Doors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0" y="1371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Unlock/lock doors.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 inline.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PM safety net.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91440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914400"/>
            <a:ext cx="265176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051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1371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health: status,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memory, firmware.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468880"/>
            <a:ext cx="8412480" cy="2377440"/>
          </a:xfrm>
          <a:prstGeom prst="rect">
            <a:avLst/>
          </a:prstGeom>
          <a:solidFill>
            <a:srgbClr val="F0F2F5"/>
          </a:solidFill>
          <a:ln w="19050">
            <a:solidFill>
              <a:srgbClr val="AAAAAA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65760" y="3291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6576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 with all three tabs visible — show Cameras, Doors, and Monitor tabs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Putting It All Together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28016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280160"/>
            <a:ext cx="15544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5544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Users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651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individuals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57400" y="128016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57400" y="1280160"/>
            <a:ext cx="1554480" cy="54864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1" name="Shape 9"/>
          <p:cNvSpPr/>
          <p:nvPr/>
        </p:nvSpPr>
        <p:spPr>
          <a:xfrm>
            <a:off x="2606040" y="1554480"/>
            <a:ext cx="457200" cy="457200"/>
          </a:xfrm>
          <a:prstGeom prst="ellipse">
            <a:avLst/>
          </a:prstGeom>
          <a:solidFill>
            <a:srgbClr val="2E5090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4884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Groups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48840" y="2651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by role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94760" y="128016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94760" y="1280160"/>
            <a:ext cx="155448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Shape 15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8620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Policy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86200" y="2651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where + when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32120" y="128016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32120" y="1280160"/>
            <a:ext cx="15544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6080760" y="15544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60807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2356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 NFC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23560" y="2651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credentials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69480" y="128016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69480" y="1280160"/>
            <a:ext cx="1554480" cy="54864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29" name="Shape 27"/>
          <p:cNvSpPr/>
          <p:nvPr/>
        </p:nvSpPr>
        <p:spPr>
          <a:xfrm>
            <a:off x="7818120" y="1554480"/>
            <a:ext cx="457200" cy="457200"/>
          </a:xfrm>
          <a:prstGeom prst="ellipse">
            <a:avLst/>
          </a:prstGeom>
          <a:solidFill>
            <a:srgbClr val="2E5090"/>
          </a:solidFill>
          <a:ln/>
        </p:spPr>
      </p:sp>
      <p:sp>
        <p:nvSpPr>
          <p:cNvPr id="30" name="Text 28"/>
          <p:cNvSpPr/>
          <p:nvPr/>
        </p:nvSpPr>
        <p:spPr>
          <a:xfrm>
            <a:off x="78181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36092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Toggle Apps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60920" y="2651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control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URLs &amp; Resources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480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 / Location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 Access 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https://&lt;unvr-ip&gt; &gt; Access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Privacy Toggle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http://&lt;server-ip&gt;:5000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Door Lock Toggle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http://&lt;server-ip&gt;:5001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Monitor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http://&lt;server-ip&gt;:5002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Portal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http://&lt;server-ip&gt;:8080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Ubiquiti Help Center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help.ui.com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attending.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support, refer to the Admin Procedures document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contact your system administrator.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UniFi Access Administration Training</dc:title>
  <dc:subject>PptxGenJS Presentation</dc:subject>
  <dc:creator>Larry Herzog Jr.</dc:creator>
  <cp:lastModifiedBy>Larry Herzog Jr.</cp:lastModifiedBy>
  <cp:revision>1</cp:revision>
  <dcterms:created xsi:type="dcterms:W3CDTF">2026-04-06T14:36:43Z</dcterms:created>
  <dcterms:modified xsi:type="dcterms:W3CDTF">2026-04-06T14:36:43Z</dcterms:modified>
</cp:coreProperties>
</file>